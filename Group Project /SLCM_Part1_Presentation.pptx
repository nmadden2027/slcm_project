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0"/>
    <p:restoredTop sz="80863"/>
  </p:normalViewPr>
  <p:slideViewPr>
    <p:cSldViewPr snapToGrid="0" snapToObjects="1">
      <p:cViewPr>
        <p:scale>
          <a:sx n="123" d="100"/>
          <a:sy n="123" d="100"/>
        </p:scale>
        <p:origin x="1448" y="-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02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952D2E1C-9D8B-0742-97BF-51545C9702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677" y="1122363"/>
            <a:ext cx="54863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77" y="3602038"/>
            <a:ext cx="54863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87677" y="1122363"/>
            <a:ext cx="54863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7677" y="3602038"/>
            <a:ext cx="54863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A6BC8CC4-EE74-3645-88EF-C41CBB35D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C949C515-2A63-E847-9DAB-A5268D84630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5224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1DC17-4A50-5F49-AEC7-C955C81B92E5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9144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4282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C171DC17-4A50-5F49-AEC7-C955C81B92E5}" type="datetimeFigureOut">
              <a:rPr lang="en-US" smtClean="0"/>
              <a:pPr/>
              <a:t>10/6/26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42827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42827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3CECA701-B4E9-7A48-A404-CF6B6C4E1E5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4651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/>
              <a:t>Group project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By: Niko Madden and AJ Rallo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Community Partner and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691640"/>
            <a:ext cx="3840480" cy="4389120"/>
          </a:xfrm>
          <a:prstGeom prst="roundRect">
            <a:avLst>
              <a:gd name="adj" fmla="val 5000"/>
            </a:avLst>
          </a:prstGeom>
          <a:solidFill>
            <a:srgbClr val="F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752836"/>
                </a:solidFill>
              </a:defRPr>
            </a:pPr>
            <a:r>
              <a:rPr dirty="0"/>
              <a:t>Who: St Luke Community Ministry (SLCM)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62626"/>
                </a:solidFill>
              </a:defRPr>
            </a:pPr>
            <a:r>
              <a:rPr dirty="0"/>
              <a:t>Louisville-based nonprofit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62626"/>
                </a:solidFill>
              </a:defRPr>
            </a:pPr>
            <a:r>
              <a:rPr dirty="0"/>
              <a:t>Serves families with children ages 0-5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62626"/>
                </a:solidFill>
              </a:defRPr>
            </a:pPr>
            <a:r>
              <a:rPr dirty="0"/>
              <a:t>Case data come from its intake and case-management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72584" y="1691640"/>
            <a:ext cx="3840480" cy="438912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The need we are trying to understand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62626"/>
                </a:solidFill>
              </a:defRPr>
            </a:pPr>
            <a:r>
              <a:rPr dirty="0"/>
              <a:t>Who comes to SLCM, and how difficult is their situation?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62626"/>
                </a:solidFill>
              </a:defRPr>
            </a:pPr>
            <a:r>
              <a:rPr dirty="0"/>
              <a:t>Does the case data actually support SLCM’s own model of urgent vs. recurring need?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  <a:defRPr sz="1900">
                <a:solidFill>
                  <a:srgbClr val="262626"/>
                </a:solidFill>
              </a:defRPr>
            </a:pPr>
            <a:r>
              <a:rPr dirty="0"/>
              <a:t>Can we spot repeat contact and change over time?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691640"/>
            <a:ext cx="3840480" cy="2377440"/>
          </a:xfrm>
          <a:prstGeom prst="roundRect">
            <a:avLst>
              <a:gd name="adj" fmla="val 5000"/>
            </a:avLst>
          </a:prstGeom>
          <a:solidFill>
            <a:srgbClr val="E0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00677F"/>
                </a:solidFill>
              </a:defRPr>
            </a:pPr>
            <a:r>
              <a:rPr dirty="0" err="1"/>
              <a:t>cleaned_intakes_masked.csv</a:t>
            </a:r>
            <a:endParaRPr dirty="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639 rows x 93 columns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One row = one Jira ticket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426 intake tickets + 213 care-path sub-tickets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72584" y="1691640"/>
            <a:ext cx="3840480" cy="2377440"/>
          </a:xfrm>
          <a:prstGeom prst="roundRect">
            <a:avLst>
              <a:gd name="adj" fmla="val 5000"/>
            </a:avLst>
          </a:prstGeom>
          <a:solidFill>
            <a:srgbClr val="E0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00677F"/>
                </a:solidFill>
              </a:defRPr>
            </a:pPr>
            <a:r>
              <a:rPr dirty="0"/>
              <a:t>household_members_long_v2.csv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993 rows x 8 columns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One row = one additional household member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Covers 400 of the 426 intakes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" y="4343400"/>
            <a:ext cx="7882127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500" b="0">
                <a:solidFill>
                  <a:srgbClr val="262626"/>
                </a:solidFill>
              </a:defRPr>
            </a:pPr>
            <a:r>
              <a:rPr sz="1700" b="1"/>
              <a:t>Information available: </a:t>
            </a:r>
            <a:r>
              <a:rPr sz="1700"/>
              <a:t>housing and eviction status, employment, income amount and source, ZIP code, household counts, caregiver age, member ages, and relationships.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Column Triage: 93 Columns Sorted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691640"/>
            <a:ext cx="2487168" cy="3291840"/>
          </a:xfrm>
          <a:prstGeom prst="roundRect">
            <a:avLst>
              <a:gd name="adj" fmla="val 5000"/>
            </a:avLst>
          </a:prstGeom>
          <a:solidFill>
            <a:srgbClr val="E0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00677F"/>
                </a:solidFill>
              </a:defRPr>
            </a:pPr>
            <a:r>
              <a:rPr dirty="0"/>
              <a:t>Needed: </a:t>
            </a:r>
            <a:r>
              <a:rPr lang="en-US" dirty="0"/>
              <a:t>21</a:t>
            </a:r>
            <a:endParaRPr dirty="0"/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PID (person key)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Eviction and housing status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Employment, income, source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ZIP, household counts</a:t>
            </a:r>
            <a:endParaRPr lang="en-U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lang="en-US" dirty="0"/>
              <a:t>Monthly rent, past-due rent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3328416" y="1691640"/>
            <a:ext cx="2487168" cy="3291840"/>
          </a:xfrm>
          <a:prstGeom prst="roundRect">
            <a:avLst>
              <a:gd name="adj" fmla="val 5000"/>
            </a:avLst>
          </a:prstGeom>
          <a:solidFill>
            <a:srgbClr val="F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752836"/>
                </a:solidFill>
              </a:defRPr>
            </a:pPr>
            <a:r>
              <a:rPr dirty="0"/>
              <a:t>Drop: 28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Reporter, watchers, board rank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Landlord name, employer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Staff comments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Utility flags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25896" y="1691640"/>
            <a:ext cx="2487168" cy="329184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Optional: 46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Gender, race/ethnicity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Insurance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Goals, labels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5166360"/>
            <a:ext cx="7882127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1700" b="0">
                <a:solidFill>
                  <a:srgbClr val="262626"/>
                </a:solidFill>
              </a:defRPr>
            </a:pPr>
            <a:r>
              <a:t>Reasoning: keep what describes the family’s situation or is needed to link records; drop staff, system fields, and “free text,” which aren’t crucial to the family’s current needs.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Data Quality Problems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691640"/>
            <a:ext cx="3840480" cy="210312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Missing values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213 sub-tickets: blank on every intake field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63 intakes (14.8%) eviction status unknown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93 household members missing 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72584" y="1691640"/>
            <a:ext cx="3840480" cy="210312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Duplicates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12 intake tickets marked as duplicate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Same person can have many tickets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" y="3977639"/>
            <a:ext cx="3840480" cy="210312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Outliers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Ages of -1 and 1824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Rent of $125,100; past due of $242,682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Incomes up to $75,000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72584" y="3977639"/>
            <a:ext cx="3840480" cy="210312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Inconsistent formatting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State spelled 12 ways (Kentucky, Ky, etc...)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Household counts stored as text (“More than 5”)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Count fields agree only 56% of the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Data Preparation (Steps and Why)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450511"/>
              </p:ext>
            </p:extLst>
          </p:nvPr>
        </p:nvGraphicFramePr>
        <p:xfrm>
          <a:off x="630936" y="1691640"/>
          <a:ext cx="7882128" cy="41696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3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4944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Why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Kept only 426 intake tickets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Sub-tickets have no case data and would mess with our averages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Standardize state; cut ZIP+4 to 5 digits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Simplifying it makes it so people with the same ZIP aren’t being split 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Set impossible ages/typos to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Keep the row: the same ticket will still hold valid housing and income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Flagged duplicates instead of deleting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Deleting would change </a:t>
                      </a:r>
                      <a:r>
                        <a:rPr lang="en-US" dirty="0"/>
                        <a:t>our figures (slightly but rather be safe)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4944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Built eviction-risk flag and household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rPr dirty="0"/>
                        <a:t>SLCM doesn’t record these directly and instead are both documented as proxies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Exploratory Data Analysis</a:t>
            </a:r>
          </a:p>
        </p:txBody>
      </p:sp>
      <p:pic>
        <p:nvPicPr>
          <p:cNvPr id="3" name="Picture 2" descr="q2_employment_in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645920"/>
            <a:ext cx="7882127" cy="25167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" y="4297680"/>
            <a:ext cx="7882127" cy="181588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700" b="0">
                <a:solidFill>
                  <a:srgbClr val="262626"/>
                </a:solidFill>
              </a:defRPr>
            </a:pPr>
            <a:r>
              <a:rPr dirty="0"/>
              <a:t>Employment does not predict hardship: median income $2,000 (employed) vs $0, yet eviction risk is 33% vs 25%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62626"/>
                </a:solidFill>
              </a:defRPr>
            </a:pPr>
            <a:r>
              <a:rPr dirty="0"/>
              <a:t>28.6% of intakes show eviction risk; it varies by ZIP (11% to 53% in ZIPs with 15+ tickets)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62626"/>
                </a:solidFill>
              </a:defRPr>
            </a:pPr>
            <a:r>
              <a:rPr dirty="0"/>
              <a:t>Typical household: 3 people with 2 young children; half of other members are under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Our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0936" y="1645920"/>
            <a:ext cx="7882127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sz="2400" b="1">
                <a:solidFill>
                  <a:srgbClr val="752836"/>
                </a:solidFill>
              </a:defRPr>
            </a:pPr>
            <a:r>
              <a:t>Which intake characteristics are associated with eviction risk at intake?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" y="2743200"/>
            <a:ext cx="3840480" cy="3337560"/>
          </a:xfrm>
          <a:prstGeom prst="roundRect">
            <a:avLst>
              <a:gd name="adj" fmla="val 5000"/>
            </a:avLst>
          </a:prstGeom>
          <a:solidFill>
            <a:srgbClr val="F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752836"/>
                </a:solidFill>
              </a:defRPr>
            </a:pPr>
            <a:r>
              <a:rPr dirty="0"/>
              <a:t>Why it matters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Helps prioritize which families need immediate help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Tests whether employment is a useful screening signal (it seems like it’s not)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First step toward a fair and explainable triage tool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72584" y="2743200"/>
            <a:ext cx="3840480" cy="333756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Variables that could help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ZIP code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Household size and number of children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Employment status, total income amount and source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Monthly rent, past-due rent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800">
                <a:solidFill>
                  <a:srgbClr val="262626"/>
                </a:solidFill>
              </a:defRPr>
            </a:pPr>
            <a:r>
              <a:rPr dirty="0"/>
              <a:t>Caregiver 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/>
              <a:t>Key Findings So Far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691640"/>
            <a:ext cx="3840480" cy="4389120"/>
          </a:xfrm>
          <a:prstGeom prst="roundRect">
            <a:avLst>
              <a:gd name="adj" fmla="val 5000"/>
            </a:avLst>
          </a:prstGeom>
          <a:solidFill>
            <a:srgbClr val="E0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00677F"/>
                </a:solidFill>
              </a:defRPr>
            </a:pPr>
            <a:r>
              <a:rPr dirty="0"/>
              <a:t>What we learned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62626"/>
                </a:solidFill>
              </a:defRPr>
            </a:pPr>
            <a:r>
              <a:rPr dirty="0"/>
              <a:t>The export holds 426 real intakes, not 639 families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62626"/>
                </a:solidFill>
              </a:defRPr>
            </a:pPr>
            <a:r>
              <a:rPr dirty="0"/>
              <a:t>28.6% show eviction risk; more than half are renters behind on rent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700">
                <a:solidFill>
                  <a:srgbClr val="262626"/>
                </a:solidFill>
              </a:defRPr>
            </a:pPr>
            <a:r>
              <a:rPr dirty="0"/>
              <a:t>Employment does not protect against hardship: nearly a third of employed households rely mainly on SNAP/TANF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72584" y="1691640"/>
            <a:ext cx="3840480" cy="1737360"/>
          </a:xfrm>
          <a:prstGeom prst="roundRect">
            <a:avLst>
              <a:gd name="adj" fmla="val 5000"/>
            </a:avLst>
          </a:prstGeom>
          <a:solidFill>
            <a:srgbClr val="F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752836"/>
                </a:solidFill>
              </a:defRPr>
            </a:pPr>
            <a:r>
              <a:rPr dirty="0"/>
              <a:t>What surprised us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Employed households are at least as likely to face eviction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Repeat intake</a:t>
            </a:r>
            <a:r>
              <a:rPr lang="en-US" dirty="0"/>
              <a:t> is fairly common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672584" y="3566160"/>
            <a:ext cx="3840480" cy="251460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What the data cannot tell us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Eviction risk is our proxy, not a recorded field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63 intakes have Unknown eviction status, so 28.6% is likely a floor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The highest-risk ZIPs have only 15 to 17 tickets each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262626"/>
                </a:solidFill>
              </a:defRPr>
            </a:pPr>
            <a:r>
              <a:rPr dirty="0"/>
              <a:t>The data show intake, not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65760"/>
            <a:ext cx="7223760" cy="1005840"/>
          </a:xfrm>
        </p:spPr>
        <p:txBody>
          <a:bodyPr/>
          <a:lstStyle/>
          <a:p>
            <a:r>
              <a:rPr sz="2800" b="1" dirty="0"/>
              <a:t>Next Steps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30936" y="1691640"/>
            <a:ext cx="2487168" cy="4389120"/>
          </a:xfrm>
          <a:prstGeom prst="roundRect">
            <a:avLst>
              <a:gd name="adj" fmla="val 5000"/>
            </a:avLst>
          </a:prstGeom>
          <a:solidFill>
            <a:srgbClr val="E0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00677F"/>
                </a:solidFill>
              </a:defRPr>
            </a:pPr>
            <a:r>
              <a:rPr dirty="0"/>
              <a:t>Investigate next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Which factors best separate at-risk from stable families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ZIP-level patterns with more data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What happens between first and later intakes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8416" y="1691640"/>
            <a:ext cx="2487168" cy="4389120"/>
          </a:xfrm>
          <a:prstGeom prst="roundRect">
            <a:avLst>
              <a:gd name="adj" fmla="val 5000"/>
            </a:avLst>
          </a:prstGeom>
          <a:solidFill>
            <a:srgbClr val="F3E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752836"/>
                </a:solidFill>
              </a:defRPr>
            </a:pPr>
            <a:r>
              <a:rPr dirty="0"/>
              <a:t>Possible approaches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Logistic regression for eviction risk (interpretable first)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Clustering of household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25896" y="1691640"/>
            <a:ext cx="2487168" cy="4389120"/>
          </a:xfrm>
          <a:prstGeom prst="roundRect">
            <a:avLst>
              <a:gd name="adj" fmla="val 5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64592" rtlCol="0" anchor="t"/>
          <a:lstStyle/>
          <a:p>
            <a:pPr algn="l">
              <a:spcAft>
                <a:spcPts val="800"/>
              </a:spcAft>
              <a:defRPr sz="1800" b="1">
                <a:solidFill>
                  <a:srgbClr val="4D4D4D"/>
                </a:solidFill>
              </a:defRPr>
            </a:pPr>
            <a:r>
              <a:rPr dirty="0"/>
              <a:t>Limits and needs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Utility data 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Case outcome fields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A reliable person ID</a:t>
            </a:r>
          </a:p>
          <a:p>
            <a:pPr marL="285750" indent="-285750" algn="l">
              <a:spcAft>
                <a:spcPts val="600"/>
              </a:spcAft>
              <a:buFont typeface="Arial" panose="020B0604020202020204" pitchFamily="34" charset="0"/>
              <a:buChar char="•"/>
              <a:defRPr sz="1600">
                <a:solidFill>
                  <a:srgbClr val="262626"/>
                </a:solidFill>
              </a:defRPr>
            </a:pPr>
            <a:r>
              <a:rPr dirty="0"/>
              <a:t>Follow-up housing status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868</TotalTime>
  <Words>780</Words>
  <Application>Microsoft Macintosh PowerPoint</Application>
  <PresentationFormat>On-screen Show (4:3)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Group project presentation</vt:lpstr>
      <vt:lpstr>Community Partner and Problem</vt:lpstr>
      <vt:lpstr>Dataset Overview</vt:lpstr>
      <vt:lpstr>Column Triage: 93 Columns Sorted</vt:lpstr>
      <vt:lpstr>Data Quality Problems</vt:lpstr>
      <vt:lpstr>Data Preparation (Steps and Why)</vt:lpstr>
      <vt:lpstr>Exploratory Data Analysis</vt:lpstr>
      <vt:lpstr>Our Research Question</vt:lpstr>
      <vt:lpstr>Key Findings So Far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Nikolas R. Madden</cp:lastModifiedBy>
  <cp:revision>5</cp:revision>
  <dcterms:created xsi:type="dcterms:W3CDTF">2020-08-18T15:08:12Z</dcterms:created>
  <dcterms:modified xsi:type="dcterms:W3CDTF">2026-10-06T13:36:48Z</dcterms:modified>
</cp:coreProperties>
</file>