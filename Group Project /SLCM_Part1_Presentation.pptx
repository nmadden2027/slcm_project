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00"/>
    <p:restoredTop sz="80863"/>
  </p:normalViewPr>
  <p:slideViewPr>
    <p:cSldViewPr snapToGrid="0" snapToObjects="1">
      <p:cViewPr>
        <p:scale>
          <a:sx n="102" d="100"/>
          <a:sy n="102" d="100"/>
        </p:scale>
        <p:origin x="2048" y="-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9002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Logo&#10;&#10;Description automatically generated">
            <a:extLst>
              <a:ext uri="{FF2B5EF4-FFF2-40B4-BE49-F238E27FC236}">
                <a16:creationId xmlns:a16="http://schemas.microsoft.com/office/drawing/2014/main" id="{952D2E1C-9D8B-0742-97BF-51545C9702C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7289" r="41429" b="18385"/>
          <a:stretch/>
        </p:blipFill>
        <p:spPr>
          <a:xfrm>
            <a:off x="5224412" y="-1"/>
            <a:ext cx="3919588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CE7391D-D800-AF4B-9BCC-050FD0BF552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87677" y="1122363"/>
            <a:ext cx="5486399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2B2A6F-6709-514E-BFC6-9A4A7329A1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7677" y="3602038"/>
            <a:ext cx="5486399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62D3AD-8629-3943-936D-B62EEF2E9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6F098A-A3EE-384E-8702-C337467654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5532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7391D-D800-AF4B-9BCC-050FD0BF552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87677" y="1122363"/>
            <a:ext cx="5486399" cy="2387600"/>
          </a:xfrm>
        </p:spPr>
        <p:txBody>
          <a:bodyPr anchor="b"/>
          <a:lstStyle>
            <a:lvl1pPr algn="ctr"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2B2A6F-6709-514E-BFC6-9A4A7329A1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7677" y="3602038"/>
            <a:ext cx="5486399" cy="1655762"/>
          </a:xfrm>
        </p:spPr>
        <p:txBody>
          <a:bodyPr/>
          <a:lstStyle>
            <a:lvl1pPr marL="0" indent="0" algn="ctr">
              <a:buNone/>
              <a:defRPr sz="1800">
                <a:solidFill>
                  <a:schemeClr val="bg1"/>
                </a:solidFill>
              </a:defRPr>
            </a:lvl1pPr>
            <a:lvl2pPr marL="342892" indent="0" algn="ctr">
              <a:buNone/>
              <a:defRPr sz="1500"/>
            </a:lvl2pPr>
            <a:lvl3pPr marL="685783" indent="0" algn="ctr">
              <a:buNone/>
              <a:defRPr sz="1350"/>
            </a:lvl3pPr>
            <a:lvl4pPr marL="1028675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8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2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62D3AD-8629-3943-936D-B62EEF2E9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6F098A-A3EE-384E-8702-C337467654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1" name="Picture 10" descr="Logo&#10;&#10;Description automatically generated">
            <a:extLst>
              <a:ext uri="{FF2B5EF4-FFF2-40B4-BE49-F238E27FC236}">
                <a16:creationId xmlns:a16="http://schemas.microsoft.com/office/drawing/2014/main" id="{A6BC8CC4-EE74-3645-88EF-C41CBB35D57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7289" r="41429" b="18385"/>
          <a:stretch/>
        </p:blipFill>
        <p:spPr>
          <a:xfrm>
            <a:off x="5224412" y="-1"/>
            <a:ext cx="3919588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89845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E5C75-2456-E24C-A74E-E3F68183E4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5908F-63CC-1B4E-947D-0F73547617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1D3A58-FFD8-4940-A7F0-8B2B57C9A1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CE6D3E-6D5E-D349-938B-E0B3301AFF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AB6C36-FD1B-BE4B-974D-B33D0A7B60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29699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DBCD9A-4C4D-C04D-B628-4D6821CF991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3888" y="1709741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76D619-9256-5342-BA68-AA592831FA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6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892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1652CD-DA0F-E044-884E-A857BA135C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B41647-D227-6B41-9AD6-182E7AE905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9" descr="Logo&#10;&#10;Description automatically generated">
            <a:extLst>
              <a:ext uri="{FF2B5EF4-FFF2-40B4-BE49-F238E27FC236}">
                <a16:creationId xmlns:a16="http://schemas.microsoft.com/office/drawing/2014/main" id="{C949C515-2A63-E847-9DAB-A5268D84630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7289" r="41429" b="18385"/>
          <a:stretch/>
        </p:blipFill>
        <p:spPr>
          <a:xfrm>
            <a:off x="5224412" y="-1"/>
            <a:ext cx="3919588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54437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955F1-41C9-F741-ABCA-148F72FF7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58B0D0-CB2A-5B49-AFAE-C401DC85D4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CFA190-6116-CE4E-880A-2A5FD5E9FA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46A325-B878-6048-96EA-AD37D9146E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9/30/26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794E63-81BD-D34E-9FB6-590D87A2CB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D2F3FA-6596-F141-A53F-FDEC5D0FD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08755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B786C4-8A82-2E47-BA0A-3B4FD275E2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8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DDAD30-26CB-894D-B249-16631B50FF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892" indent="0">
              <a:buNone/>
              <a:defRPr sz="1500" b="1"/>
            </a:lvl2pPr>
            <a:lvl3pPr marL="685783" indent="0">
              <a:buNone/>
              <a:defRPr sz="1350" b="1"/>
            </a:lvl3pPr>
            <a:lvl4pPr marL="1028675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8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2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54E37DF-FCA3-9345-8F1B-3B2DEECC38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C2A7F32-108C-0147-BF1C-151D185797D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1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892" indent="0">
              <a:buNone/>
              <a:defRPr sz="1500" b="1"/>
            </a:lvl2pPr>
            <a:lvl3pPr marL="685783" indent="0">
              <a:buNone/>
              <a:defRPr sz="1350" b="1"/>
            </a:lvl3pPr>
            <a:lvl4pPr marL="1028675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8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2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5A79B9-C154-E741-8BC5-8B95F0D2514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1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C3A23CC-9985-5B43-B4F5-7A65FBBBB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9/30/26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5A89551-72F1-6A40-B02D-98C9990F1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33ACEE8-777A-5940-9519-1D826BCAD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4173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60DEB-C558-DB4D-9DBB-60DA77C03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DA75B9-E07E-614C-9F6C-7943A325F6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9/30/26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76482A-9624-104B-AFF8-5DE40120AF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BB9DE2-8332-1E4D-806B-6DDB78385E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48438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510AD24-3C30-D545-822F-3EF5F7FE4D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9/30/26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31DBBA-BE87-D441-B84D-D8F2DAF194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82A5FB-A616-8D45-9939-E7B334615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1194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18ADA5-6E94-DB46-948A-CE55B2255B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4303E3-1AEE-0E46-A78B-8B0925632D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8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F0A59D-5684-1941-8033-29499AF5C6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892" indent="0">
              <a:buNone/>
              <a:defRPr sz="1050"/>
            </a:lvl2pPr>
            <a:lvl3pPr marL="685783" indent="0">
              <a:buNone/>
              <a:defRPr sz="900"/>
            </a:lvl3pPr>
            <a:lvl4pPr marL="1028675" indent="0">
              <a:buNone/>
              <a:defRPr sz="750"/>
            </a:lvl4pPr>
            <a:lvl5pPr marL="1371566" indent="0">
              <a:buNone/>
              <a:defRPr sz="750"/>
            </a:lvl5pPr>
            <a:lvl6pPr marL="1714457" indent="0">
              <a:buNone/>
              <a:defRPr sz="750"/>
            </a:lvl6pPr>
            <a:lvl7pPr marL="2057348" indent="0">
              <a:buNone/>
              <a:defRPr sz="750"/>
            </a:lvl7pPr>
            <a:lvl8pPr marL="2400240" indent="0">
              <a:buNone/>
              <a:defRPr sz="750"/>
            </a:lvl8pPr>
            <a:lvl9pPr marL="2743132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F289D9-B751-654C-8849-B701A522D7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9/30/26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8A2888-A517-7A40-9678-F86659CA1C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386589-428D-8542-B91B-AA693B17C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7073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83A8F6-F979-A948-9E97-51A384265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CDC9482-4942-9A42-9B6B-9A6D0C3F57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8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892" indent="0">
              <a:buNone/>
              <a:defRPr sz="2100"/>
            </a:lvl2pPr>
            <a:lvl3pPr marL="685783" indent="0">
              <a:buNone/>
              <a:defRPr sz="1800"/>
            </a:lvl3pPr>
            <a:lvl4pPr marL="1028675" indent="0">
              <a:buNone/>
              <a:defRPr sz="1500"/>
            </a:lvl4pPr>
            <a:lvl5pPr marL="1371566" indent="0">
              <a:buNone/>
              <a:defRPr sz="1500"/>
            </a:lvl5pPr>
            <a:lvl6pPr marL="1714457" indent="0">
              <a:buNone/>
              <a:defRPr sz="1500"/>
            </a:lvl6pPr>
            <a:lvl7pPr marL="2057348" indent="0">
              <a:buNone/>
              <a:defRPr sz="1500"/>
            </a:lvl7pPr>
            <a:lvl8pPr marL="2400240" indent="0">
              <a:buNone/>
              <a:defRPr sz="1500"/>
            </a:lvl8pPr>
            <a:lvl9pPr marL="2743132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ABD93E-E334-794F-AAA4-ED2738BD9F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892" indent="0">
              <a:buNone/>
              <a:defRPr sz="1050"/>
            </a:lvl2pPr>
            <a:lvl3pPr marL="685783" indent="0">
              <a:buNone/>
              <a:defRPr sz="900"/>
            </a:lvl3pPr>
            <a:lvl4pPr marL="1028675" indent="0">
              <a:buNone/>
              <a:defRPr sz="750"/>
            </a:lvl4pPr>
            <a:lvl5pPr marL="1371566" indent="0">
              <a:buNone/>
              <a:defRPr sz="750"/>
            </a:lvl5pPr>
            <a:lvl6pPr marL="1714457" indent="0">
              <a:buNone/>
              <a:defRPr sz="750"/>
            </a:lvl6pPr>
            <a:lvl7pPr marL="2057348" indent="0">
              <a:buNone/>
              <a:defRPr sz="750"/>
            </a:lvl7pPr>
            <a:lvl8pPr marL="2400240" indent="0">
              <a:buNone/>
              <a:defRPr sz="750"/>
            </a:lvl8pPr>
            <a:lvl9pPr marL="2743132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F2F737-FC71-3D41-A122-65FFC91867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9/30/26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A97691-9973-4B46-AE83-6A5F333C7F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899189-E24D-B94A-A884-A8AF80D2C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2483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739EF-4096-1A49-9AD4-0655F121A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E2AF70-1E65-534B-9153-913A0A9E45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CECE82-C65F-6B43-ABA4-3EB664450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C09C77-D8D0-FB43-910C-1F49030654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21FDC7-F78C-EE40-982D-9189AE7D30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10220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4CDA1A7-5913-1444-B7D0-0B55BA2D780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6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705413-85D9-A548-83D7-268A900CCC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1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3033B9-EFDB-514F-8EDA-0D81C8C459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1DC17-4A50-5F49-AEC7-C955C81B92E5}" type="datetimeFigureOut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4CC90F-E680-5346-AB4F-9742715769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3E2FA6-882C-6645-8A51-A07C0F719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8F8C4-05A7-DC4E-8BB7-4202EC4ACB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5428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969A89C3-E6FA-684D-8BAE-1760B34F554E}"/>
              </a:ext>
            </a:extLst>
          </p:cNvPr>
          <p:cNvSpPr/>
          <p:nvPr userDrawn="1"/>
        </p:nvSpPr>
        <p:spPr>
          <a:xfrm>
            <a:off x="0" y="6356350"/>
            <a:ext cx="9144000" cy="5016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871C330-0F02-8249-82EC-9F3A278C0A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8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53E27E-2040-824D-B637-1C07F3E062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FD629B-BAF4-A343-8BF1-1572AB3803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42827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bg1"/>
                </a:solidFill>
              </a:defRPr>
            </a:lvl1pPr>
          </a:lstStyle>
          <a:p>
            <a:fld id="{C171DC17-4A50-5F49-AEC7-C955C81B92E5}" type="datetimeFigureOut">
              <a:rPr lang="en-US" smtClean="0"/>
              <a:pPr/>
              <a:t>9/30/26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61F82B-A72E-B848-BB19-0207CDE46B4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42827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1620FE-B066-7C49-9BDF-AF56CC193D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42827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bg1"/>
                </a:solidFill>
              </a:defRPr>
            </a:lvl1pPr>
          </a:lstStyle>
          <a:p>
            <a:fld id="{09B8F8C4-05A7-DC4E-8BB7-4202EC4ACBF7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8" name="Picture 7" descr="Logo&#10;&#10;Description automatically generated">
            <a:extLst>
              <a:ext uri="{FF2B5EF4-FFF2-40B4-BE49-F238E27FC236}">
                <a16:creationId xmlns:a16="http://schemas.microsoft.com/office/drawing/2014/main" id="{3CECA701-B4E9-7A48-A404-CF6B6C4E1E5A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8034651" y="185741"/>
            <a:ext cx="961397" cy="1325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38773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685783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171446" indent="-171446" algn="l" defTabSz="685783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14337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857228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200120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543012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1885903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200" b="1"/>
              <a:t>Group project presentation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1800"/>
            </a:pPr>
            <a:r>
              <a:t>By: Niko Madden and AJ Rallo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365760"/>
            <a:ext cx="7223760" cy="1005840"/>
          </a:xfrm>
        </p:spPr>
        <p:txBody>
          <a:bodyPr/>
          <a:lstStyle/>
          <a:p>
            <a:r>
              <a:rPr sz="2800" b="1"/>
              <a:t>Community Partner and Problem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30936" y="1691640"/>
            <a:ext cx="3840480" cy="4389120"/>
          </a:xfrm>
          <a:prstGeom prst="roundRect">
            <a:avLst>
              <a:gd name="adj" fmla="val 5000"/>
            </a:avLst>
          </a:prstGeom>
          <a:solidFill>
            <a:srgbClr val="F3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37160" rIns="164592" rtlCol="0" anchor="t"/>
          <a:lstStyle/>
          <a:p>
            <a:pPr algn="l">
              <a:spcAft>
                <a:spcPts val="800"/>
              </a:spcAft>
              <a:defRPr sz="1800" b="1">
                <a:solidFill>
                  <a:srgbClr val="752836"/>
                </a:solidFill>
              </a:defRPr>
            </a:pPr>
            <a:r>
              <a:rPr dirty="0"/>
              <a:t>Who: St Luke Community Ministry (SLCM)</a:t>
            </a:r>
          </a:p>
          <a:p>
            <a:pPr marL="342900" indent="-342900" algn="l">
              <a:spcAft>
                <a:spcPts val="600"/>
              </a:spcAft>
              <a:buFont typeface="Arial" panose="020B0604020202020204" pitchFamily="34" charset="0"/>
              <a:buChar char="•"/>
              <a:defRPr sz="1900">
                <a:solidFill>
                  <a:srgbClr val="262626"/>
                </a:solidFill>
              </a:defRPr>
            </a:pPr>
            <a:r>
              <a:rPr dirty="0"/>
              <a:t>Louisville-based nonprofit</a:t>
            </a:r>
          </a:p>
          <a:p>
            <a:pPr marL="342900" indent="-342900" algn="l">
              <a:spcAft>
                <a:spcPts val="600"/>
              </a:spcAft>
              <a:buFont typeface="Arial" panose="020B0604020202020204" pitchFamily="34" charset="0"/>
              <a:buChar char="•"/>
              <a:defRPr sz="1900">
                <a:solidFill>
                  <a:srgbClr val="262626"/>
                </a:solidFill>
              </a:defRPr>
            </a:pPr>
            <a:r>
              <a:rPr dirty="0"/>
              <a:t>Serves families with children ages 0-5</a:t>
            </a:r>
          </a:p>
          <a:p>
            <a:pPr marL="342900" indent="-342900" algn="l">
              <a:spcAft>
                <a:spcPts val="600"/>
              </a:spcAft>
              <a:buFont typeface="Arial" panose="020B0604020202020204" pitchFamily="34" charset="0"/>
              <a:buChar char="•"/>
              <a:defRPr sz="1900">
                <a:solidFill>
                  <a:srgbClr val="262626"/>
                </a:solidFill>
              </a:defRPr>
            </a:pPr>
            <a:r>
              <a:rPr dirty="0"/>
              <a:t>Case data come from its intake and case-management system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672584" y="1691640"/>
            <a:ext cx="3840480" cy="4389120"/>
          </a:xfrm>
          <a:prstGeom prst="roundRect">
            <a:avLst>
              <a:gd name="adj" fmla="val 5000"/>
            </a:avLst>
          </a:prstGeom>
          <a:solidFill>
            <a:srgbClr val="EF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37160" rIns="164592" rtlCol="0" anchor="t"/>
          <a:lstStyle/>
          <a:p>
            <a:pPr algn="l">
              <a:spcAft>
                <a:spcPts val="800"/>
              </a:spcAft>
              <a:defRPr sz="1800" b="1">
                <a:solidFill>
                  <a:srgbClr val="4D4D4D"/>
                </a:solidFill>
              </a:defRPr>
            </a:pPr>
            <a:r>
              <a:rPr dirty="0"/>
              <a:t>The need we are trying to understand</a:t>
            </a:r>
          </a:p>
          <a:p>
            <a:pPr marL="342900" indent="-342900" algn="l">
              <a:spcAft>
                <a:spcPts val="600"/>
              </a:spcAft>
              <a:buFont typeface="Arial" panose="020B0604020202020204" pitchFamily="34" charset="0"/>
              <a:buChar char="•"/>
              <a:defRPr sz="1900">
                <a:solidFill>
                  <a:srgbClr val="262626"/>
                </a:solidFill>
              </a:defRPr>
            </a:pPr>
            <a:r>
              <a:rPr dirty="0"/>
              <a:t>Who comes to SLCM, and how difficult is their situation?</a:t>
            </a:r>
          </a:p>
          <a:p>
            <a:pPr marL="342900" indent="-342900" algn="l">
              <a:spcAft>
                <a:spcPts val="600"/>
              </a:spcAft>
              <a:buFont typeface="Arial" panose="020B0604020202020204" pitchFamily="34" charset="0"/>
              <a:buChar char="•"/>
              <a:defRPr sz="1900">
                <a:solidFill>
                  <a:srgbClr val="262626"/>
                </a:solidFill>
              </a:defRPr>
            </a:pPr>
            <a:r>
              <a:rPr dirty="0"/>
              <a:t>Does the case data actually support SLCM’s own model of urgent vs. recurring need?</a:t>
            </a:r>
          </a:p>
          <a:p>
            <a:pPr marL="342900" indent="-342900" algn="l">
              <a:spcAft>
                <a:spcPts val="600"/>
              </a:spcAft>
              <a:buFont typeface="Arial" panose="020B0604020202020204" pitchFamily="34" charset="0"/>
              <a:buChar char="•"/>
              <a:defRPr sz="1900">
                <a:solidFill>
                  <a:srgbClr val="262626"/>
                </a:solidFill>
              </a:defRPr>
            </a:pPr>
            <a:r>
              <a:rPr dirty="0"/>
              <a:t>Can we spot repeat contact and change over time?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365760"/>
            <a:ext cx="7223760" cy="1005840"/>
          </a:xfrm>
        </p:spPr>
        <p:txBody>
          <a:bodyPr/>
          <a:lstStyle/>
          <a:p>
            <a:r>
              <a:rPr sz="2800" b="1"/>
              <a:t>Dataset Overview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30936" y="1691640"/>
            <a:ext cx="3840480" cy="2377440"/>
          </a:xfrm>
          <a:prstGeom prst="roundRect">
            <a:avLst>
              <a:gd name="adj" fmla="val 5000"/>
            </a:avLst>
          </a:prstGeom>
          <a:solidFill>
            <a:srgbClr val="E0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37160" rIns="164592" rtlCol="0" anchor="t"/>
          <a:lstStyle/>
          <a:p>
            <a:pPr algn="l">
              <a:spcAft>
                <a:spcPts val="800"/>
              </a:spcAft>
              <a:defRPr sz="1800" b="1">
                <a:solidFill>
                  <a:srgbClr val="00677F"/>
                </a:solidFill>
              </a:defRPr>
            </a:pPr>
            <a:r>
              <a:rPr dirty="0" err="1"/>
              <a:t>cleaned_intakes_masked.csv</a:t>
            </a:r>
            <a:endParaRPr dirty="0"/>
          </a:p>
          <a:p>
            <a:pPr marL="285750" indent="-285750" algn="l">
              <a:spcAft>
                <a:spcPts val="600"/>
              </a:spcAft>
              <a:buFont typeface="Arial" panose="020B0604020202020204" pitchFamily="34" charset="0"/>
              <a:buChar char="•"/>
              <a:defRPr sz="1800">
                <a:solidFill>
                  <a:srgbClr val="262626"/>
                </a:solidFill>
              </a:defRPr>
            </a:pPr>
            <a:r>
              <a:rPr dirty="0"/>
              <a:t>639 rows x 93 columns</a:t>
            </a:r>
          </a:p>
          <a:p>
            <a:pPr marL="285750" indent="-285750" algn="l">
              <a:spcAft>
                <a:spcPts val="600"/>
              </a:spcAft>
              <a:buFont typeface="Arial" panose="020B0604020202020204" pitchFamily="34" charset="0"/>
              <a:buChar char="•"/>
              <a:defRPr sz="1800">
                <a:solidFill>
                  <a:srgbClr val="262626"/>
                </a:solidFill>
              </a:defRPr>
            </a:pPr>
            <a:r>
              <a:rPr dirty="0"/>
              <a:t>One row = one Jira ticket</a:t>
            </a:r>
          </a:p>
          <a:p>
            <a:pPr marL="285750" indent="-285750" algn="l">
              <a:spcAft>
                <a:spcPts val="600"/>
              </a:spcAft>
              <a:buFont typeface="Arial" panose="020B0604020202020204" pitchFamily="34" charset="0"/>
              <a:buChar char="•"/>
              <a:defRPr sz="1800">
                <a:solidFill>
                  <a:srgbClr val="262626"/>
                </a:solidFill>
              </a:defRPr>
            </a:pPr>
            <a:r>
              <a:rPr dirty="0"/>
              <a:t>426 intake tickets + 213 care-path sub-tickets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672584" y="1691640"/>
            <a:ext cx="3840480" cy="2377440"/>
          </a:xfrm>
          <a:prstGeom prst="roundRect">
            <a:avLst>
              <a:gd name="adj" fmla="val 5000"/>
            </a:avLst>
          </a:prstGeom>
          <a:solidFill>
            <a:srgbClr val="E0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37160" rIns="164592" rtlCol="0" anchor="t"/>
          <a:lstStyle/>
          <a:p>
            <a:pPr algn="l">
              <a:spcAft>
                <a:spcPts val="800"/>
              </a:spcAft>
              <a:defRPr sz="1800" b="1">
                <a:solidFill>
                  <a:srgbClr val="00677F"/>
                </a:solidFill>
              </a:defRPr>
            </a:pPr>
            <a:r>
              <a:rPr dirty="0"/>
              <a:t>household_members_long_v2.csv</a:t>
            </a:r>
          </a:p>
          <a:p>
            <a:pPr marL="285750" indent="-285750" algn="l">
              <a:spcAft>
                <a:spcPts val="600"/>
              </a:spcAft>
              <a:buFont typeface="Arial" panose="020B0604020202020204" pitchFamily="34" charset="0"/>
              <a:buChar char="•"/>
              <a:defRPr sz="1800">
                <a:solidFill>
                  <a:srgbClr val="262626"/>
                </a:solidFill>
              </a:defRPr>
            </a:pPr>
            <a:r>
              <a:rPr dirty="0"/>
              <a:t>993 rows x 8 columns</a:t>
            </a:r>
          </a:p>
          <a:p>
            <a:pPr marL="285750" indent="-285750" algn="l">
              <a:spcAft>
                <a:spcPts val="600"/>
              </a:spcAft>
              <a:buFont typeface="Arial" panose="020B0604020202020204" pitchFamily="34" charset="0"/>
              <a:buChar char="•"/>
              <a:defRPr sz="1800">
                <a:solidFill>
                  <a:srgbClr val="262626"/>
                </a:solidFill>
              </a:defRPr>
            </a:pPr>
            <a:r>
              <a:rPr dirty="0"/>
              <a:t>One row = one additional household member</a:t>
            </a:r>
          </a:p>
          <a:p>
            <a:pPr marL="285750" indent="-285750" algn="l">
              <a:spcAft>
                <a:spcPts val="600"/>
              </a:spcAft>
              <a:buFont typeface="Arial" panose="020B0604020202020204" pitchFamily="34" charset="0"/>
              <a:buChar char="•"/>
              <a:defRPr sz="1800">
                <a:solidFill>
                  <a:srgbClr val="262626"/>
                </a:solidFill>
              </a:defRPr>
            </a:pPr>
            <a:r>
              <a:rPr dirty="0"/>
              <a:t>Covers 400 of the 426 intakes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" y="4343400"/>
            <a:ext cx="7882127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 b="0">
                <a:solidFill>
                  <a:srgbClr val="262626"/>
                </a:solidFill>
              </a:defRPr>
            </a:pPr>
            <a:r>
              <a:rPr sz="1700" b="1"/>
              <a:t>Information available: </a:t>
            </a:r>
            <a:r>
              <a:rPr sz="1700"/>
              <a:t>housing and eviction status, employment, income amount and source, ZIP code, household counts, caregiver age, member ages, and relationships.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365760"/>
            <a:ext cx="7223760" cy="1005840"/>
          </a:xfrm>
        </p:spPr>
        <p:txBody>
          <a:bodyPr/>
          <a:lstStyle/>
          <a:p>
            <a:r>
              <a:rPr sz="2800" b="1"/>
              <a:t>Column Triage: 93 Columns Sorted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30936" y="1691640"/>
            <a:ext cx="2487168" cy="3291840"/>
          </a:xfrm>
          <a:prstGeom prst="roundRect">
            <a:avLst>
              <a:gd name="adj" fmla="val 5000"/>
            </a:avLst>
          </a:prstGeom>
          <a:solidFill>
            <a:srgbClr val="E0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37160" rIns="164592" rtlCol="0" anchor="t"/>
          <a:lstStyle/>
          <a:p>
            <a:pPr algn="l">
              <a:spcAft>
                <a:spcPts val="800"/>
              </a:spcAft>
              <a:defRPr sz="1800" b="1">
                <a:solidFill>
                  <a:srgbClr val="00677F"/>
                </a:solidFill>
              </a:defRPr>
            </a:pPr>
            <a:r>
              <a:rPr dirty="0"/>
              <a:t>Needed: 19</a:t>
            </a:r>
          </a:p>
          <a:p>
            <a:pPr marL="285750" indent="-285750" algn="l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262626"/>
                </a:solidFill>
              </a:defRPr>
            </a:pPr>
            <a:r>
              <a:rPr dirty="0"/>
              <a:t>PID (person key)</a:t>
            </a:r>
          </a:p>
          <a:p>
            <a:pPr marL="285750" indent="-285750" algn="l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262626"/>
                </a:solidFill>
              </a:defRPr>
            </a:pPr>
            <a:r>
              <a:rPr dirty="0"/>
              <a:t>Eviction and housing status</a:t>
            </a:r>
          </a:p>
          <a:p>
            <a:pPr marL="285750" indent="-285750" algn="l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262626"/>
                </a:solidFill>
              </a:defRPr>
            </a:pPr>
            <a:r>
              <a:rPr dirty="0"/>
              <a:t>Employment, income, source</a:t>
            </a:r>
          </a:p>
          <a:p>
            <a:pPr marL="285750" indent="-285750" algn="l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262626"/>
                </a:solidFill>
              </a:defRPr>
            </a:pPr>
            <a:r>
              <a:rPr dirty="0"/>
              <a:t>ZIP, household counts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28416" y="1691640"/>
            <a:ext cx="2487168" cy="3291840"/>
          </a:xfrm>
          <a:prstGeom prst="roundRect">
            <a:avLst>
              <a:gd name="adj" fmla="val 5000"/>
            </a:avLst>
          </a:prstGeom>
          <a:solidFill>
            <a:srgbClr val="F3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37160" rIns="164592" rtlCol="0" anchor="t"/>
          <a:lstStyle/>
          <a:p>
            <a:pPr algn="l">
              <a:spcAft>
                <a:spcPts val="800"/>
              </a:spcAft>
              <a:defRPr sz="1800" b="1">
                <a:solidFill>
                  <a:srgbClr val="752836"/>
                </a:solidFill>
              </a:defRPr>
            </a:pPr>
            <a:r>
              <a:rPr dirty="0"/>
              <a:t>Drop: 28</a:t>
            </a:r>
          </a:p>
          <a:p>
            <a:pPr marL="285750" indent="-285750" algn="l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262626"/>
                </a:solidFill>
              </a:defRPr>
            </a:pPr>
            <a:r>
              <a:rPr dirty="0"/>
              <a:t>Reporter, watchers, board rank</a:t>
            </a:r>
          </a:p>
          <a:p>
            <a:pPr marL="285750" indent="-285750" algn="l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262626"/>
                </a:solidFill>
              </a:defRPr>
            </a:pPr>
            <a:r>
              <a:rPr dirty="0"/>
              <a:t>Landlord name, employer</a:t>
            </a:r>
          </a:p>
          <a:p>
            <a:pPr marL="285750" indent="-285750" algn="l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262626"/>
                </a:solidFill>
              </a:defRPr>
            </a:pPr>
            <a:r>
              <a:rPr dirty="0"/>
              <a:t>Staff comments</a:t>
            </a:r>
          </a:p>
          <a:p>
            <a:pPr marL="285750" indent="-285750" algn="l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262626"/>
                </a:solidFill>
              </a:defRPr>
            </a:pPr>
            <a:r>
              <a:rPr dirty="0"/>
              <a:t>Utility flags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25896" y="1691640"/>
            <a:ext cx="2487168" cy="3291840"/>
          </a:xfrm>
          <a:prstGeom prst="roundRect">
            <a:avLst>
              <a:gd name="adj" fmla="val 5000"/>
            </a:avLst>
          </a:prstGeom>
          <a:solidFill>
            <a:srgbClr val="EF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37160" rIns="164592" rtlCol="0" anchor="t"/>
          <a:lstStyle/>
          <a:p>
            <a:pPr algn="l">
              <a:spcAft>
                <a:spcPts val="800"/>
              </a:spcAft>
              <a:defRPr sz="1800" b="1">
                <a:solidFill>
                  <a:srgbClr val="4D4D4D"/>
                </a:solidFill>
              </a:defRPr>
            </a:pPr>
            <a:r>
              <a:rPr dirty="0"/>
              <a:t>Optional: 46</a:t>
            </a:r>
          </a:p>
          <a:p>
            <a:pPr marL="285750" indent="-285750" algn="l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262626"/>
                </a:solidFill>
              </a:defRPr>
            </a:pPr>
            <a:r>
              <a:rPr dirty="0"/>
              <a:t>Gender, race/ethnicity</a:t>
            </a:r>
          </a:p>
          <a:p>
            <a:pPr marL="285750" indent="-285750" algn="l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262626"/>
                </a:solidFill>
              </a:defRPr>
            </a:pPr>
            <a:r>
              <a:rPr dirty="0"/>
              <a:t>Monthly rent, past-due rent</a:t>
            </a:r>
          </a:p>
          <a:p>
            <a:pPr marL="285750" indent="-285750" algn="l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262626"/>
                </a:solidFill>
              </a:defRPr>
            </a:pPr>
            <a:r>
              <a:rPr dirty="0"/>
              <a:t>Insurance</a:t>
            </a:r>
          </a:p>
          <a:p>
            <a:pPr marL="285750" indent="-285750" algn="l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262626"/>
                </a:solidFill>
              </a:defRPr>
            </a:pPr>
            <a:r>
              <a:rPr dirty="0"/>
              <a:t>Goals, labels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" y="5166360"/>
            <a:ext cx="7882127" cy="10058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700" b="0">
                <a:solidFill>
                  <a:srgbClr val="262626"/>
                </a:solidFill>
              </a:defRPr>
            </a:pPr>
            <a:r>
              <a:t>Reasoning: keep what describes the family’s situation or is needed to link records; drop staff, system fields, and “free text,” which aren’t crucial to the family’s current needs.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365760"/>
            <a:ext cx="7223760" cy="1005840"/>
          </a:xfrm>
        </p:spPr>
        <p:txBody>
          <a:bodyPr/>
          <a:lstStyle/>
          <a:p>
            <a:r>
              <a:rPr sz="2800" b="1"/>
              <a:t>Data Quality Problems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30936" y="1691640"/>
            <a:ext cx="3840480" cy="2103120"/>
          </a:xfrm>
          <a:prstGeom prst="roundRect">
            <a:avLst>
              <a:gd name="adj" fmla="val 5000"/>
            </a:avLst>
          </a:prstGeom>
          <a:solidFill>
            <a:srgbClr val="EF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37160" rIns="164592" rtlCol="0" anchor="t"/>
          <a:lstStyle/>
          <a:p>
            <a:pPr algn="l">
              <a:spcAft>
                <a:spcPts val="800"/>
              </a:spcAft>
              <a:defRPr sz="1800" b="1">
                <a:solidFill>
                  <a:srgbClr val="4D4D4D"/>
                </a:solidFill>
              </a:defRPr>
            </a:pPr>
            <a:r>
              <a:rPr dirty="0"/>
              <a:t>Missing values</a:t>
            </a:r>
          </a:p>
          <a:p>
            <a:pPr marL="285750" indent="-285750" algn="l">
              <a:spcAft>
                <a:spcPts val="600"/>
              </a:spcAft>
              <a:buFont typeface="Arial" panose="020B0604020202020204" pitchFamily="34" charset="0"/>
              <a:buChar char="•"/>
              <a:defRPr sz="1400">
                <a:solidFill>
                  <a:srgbClr val="262626"/>
                </a:solidFill>
              </a:defRPr>
            </a:pPr>
            <a:r>
              <a:rPr dirty="0"/>
              <a:t>213 sub-tickets: blank on every intake field</a:t>
            </a:r>
          </a:p>
          <a:p>
            <a:pPr marL="285750" indent="-285750" algn="l">
              <a:spcAft>
                <a:spcPts val="600"/>
              </a:spcAft>
              <a:buFont typeface="Arial" panose="020B0604020202020204" pitchFamily="34" charset="0"/>
              <a:buChar char="•"/>
              <a:defRPr sz="1400">
                <a:solidFill>
                  <a:srgbClr val="262626"/>
                </a:solidFill>
              </a:defRPr>
            </a:pPr>
            <a:r>
              <a:rPr dirty="0"/>
              <a:t>63 intakes (14.8%) eviction status unknown</a:t>
            </a:r>
          </a:p>
          <a:p>
            <a:pPr marL="285750" indent="-285750" algn="l">
              <a:spcAft>
                <a:spcPts val="600"/>
              </a:spcAft>
              <a:buFont typeface="Arial" panose="020B0604020202020204" pitchFamily="34" charset="0"/>
              <a:buChar char="•"/>
              <a:defRPr sz="1400">
                <a:solidFill>
                  <a:srgbClr val="262626"/>
                </a:solidFill>
              </a:defRPr>
            </a:pPr>
            <a:r>
              <a:rPr dirty="0"/>
              <a:t>93 household members missing 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672584" y="1691640"/>
            <a:ext cx="3840480" cy="2103120"/>
          </a:xfrm>
          <a:prstGeom prst="roundRect">
            <a:avLst>
              <a:gd name="adj" fmla="val 5000"/>
            </a:avLst>
          </a:prstGeom>
          <a:solidFill>
            <a:srgbClr val="EF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37160" rIns="164592" rtlCol="0" anchor="t"/>
          <a:lstStyle/>
          <a:p>
            <a:pPr algn="l">
              <a:spcAft>
                <a:spcPts val="800"/>
              </a:spcAft>
              <a:defRPr sz="1800" b="1">
                <a:solidFill>
                  <a:srgbClr val="4D4D4D"/>
                </a:solidFill>
              </a:defRPr>
            </a:pPr>
            <a:r>
              <a:rPr dirty="0"/>
              <a:t>Duplicates</a:t>
            </a:r>
          </a:p>
          <a:p>
            <a:pPr marL="285750" indent="-285750" algn="l">
              <a:spcAft>
                <a:spcPts val="600"/>
              </a:spcAft>
              <a:buFont typeface="Arial" panose="020B0604020202020204" pitchFamily="34" charset="0"/>
              <a:buChar char="•"/>
              <a:defRPr sz="1400">
                <a:solidFill>
                  <a:srgbClr val="262626"/>
                </a:solidFill>
              </a:defRPr>
            </a:pPr>
            <a:r>
              <a:rPr dirty="0"/>
              <a:t>12 intake tickets marked as duplicate</a:t>
            </a:r>
          </a:p>
          <a:p>
            <a:pPr marL="285750" indent="-285750" algn="l">
              <a:spcAft>
                <a:spcPts val="600"/>
              </a:spcAft>
              <a:buFont typeface="Arial" panose="020B0604020202020204" pitchFamily="34" charset="0"/>
              <a:buChar char="•"/>
              <a:defRPr sz="1400">
                <a:solidFill>
                  <a:srgbClr val="262626"/>
                </a:solidFill>
              </a:defRPr>
            </a:pPr>
            <a:r>
              <a:rPr dirty="0"/>
              <a:t>Same person can have many tickets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" y="3977639"/>
            <a:ext cx="3840480" cy="2103120"/>
          </a:xfrm>
          <a:prstGeom prst="roundRect">
            <a:avLst>
              <a:gd name="adj" fmla="val 5000"/>
            </a:avLst>
          </a:prstGeom>
          <a:solidFill>
            <a:srgbClr val="EF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37160" rIns="164592" rtlCol="0" anchor="t"/>
          <a:lstStyle/>
          <a:p>
            <a:pPr algn="l">
              <a:spcAft>
                <a:spcPts val="800"/>
              </a:spcAft>
              <a:defRPr sz="1800" b="1">
                <a:solidFill>
                  <a:srgbClr val="4D4D4D"/>
                </a:solidFill>
              </a:defRPr>
            </a:pPr>
            <a:r>
              <a:rPr dirty="0"/>
              <a:t>Outliers</a:t>
            </a:r>
          </a:p>
          <a:p>
            <a:pPr marL="285750" indent="-285750" algn="l">
              <a:spcAft>
                <a:spcPts val="600"/>
              </a:spcAft>
              <a:buFont typeface="Arial" panose="020B0604020202020204" pitchFamily="34" charset="0"/>
              <a:buChar char="•"/>
              <a:defRPr sz="1400">
                <a:solidFill>
                  <a:srgbClr val="262626"/>
                </a:solidFill>
              </a:defRPr>
            </a:pPr>
            <a:r>
              <a:rPr dirty="0"/>
              <a:t>Ages of -1 and 1824</a:t>
            </a:r>
          </a:p>
          <a:p>
            <a:pPr marL="285750" indent="-285750" algn="l">
              <a:spcAft>
                <a:spcPts val="600"/>
              </a:spcAft>
              <a:buFont typeface="Arial" panose="020B0604020202020204" pitchFamily="34" charset="0"/>
              <a:buChar char="•"/>
              <a:defRPr sz="1400">
                <a:solidFill>
                  <a:srgbClr val="262626"/>
                </a:solidFill>
              </a:defRPr>
            </a:pPr>
            <a:r>
              <a:rPr dirty="0"/>
              <a:t>Rent of $125,100; past due of $242,682</a:t>
            </a:r>
          </a:p>
          <a:p>
            <a:pPr marL="285750" indent="-285750" algn="l">
              <a:spcAft>
                <a:spcPts val="600"/>
              </a:spcAft>
              <a:buFont typeface="Arial" panose="020B0604020202020204" pitchFamily="34" charset="0"/>
              <a:buChar char="•"/>
              <a:defRPr sz="1400">
                <a:solidFill>
                  <a:srgbClr val="262626"/>
                </a:solidFill>
              </a:defRPr>
            </a:pPr>
            <a:r>
              <a:rPr dirty="0"/>
              <a:t>Incomes up to $75,000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72584" y="3977639"/>
            <a:ext cx="3840480" cy="2103120"/>
          </a:xfrm>
          <a:prstGeom prst="roundRect">
            <a:avLst>
              <a:gd name="adj" fmla="val 5000"/>
            </a:avLst>
          </a:prstGeom>
          <a:solidFill>
            <a:srgbClr val="EF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37160" rIns="164592" rtlCol="0" anchor="t"/>
          <a:lstStyle/>
          <a:p>
            <a:pPr algn="l">
              <a:spcAft>
                <a:spcPts val="800"/>
              </a:spcAft>
              <a:defRPr sz="1800" b="1">
                <a:solidFill>
                  <a:srgbClr val="4D4D4D"/>
                </a:solidFill>
              </a:defRPr>
            </a:pPr>
            <a:r>
              <a:rPr dirty="0"/>
              <a:t>Inconsistent formatting</a:t>
            </a:r>
          </a:p>
          <a:p>
            <a:pPr marL="285750" indent="-285750" algn="l">
              <a:spcAft>
                <a:spcPts val="600"/>
              </a:spcAft>
              <a:buFont typeface="Arial" panose="020B0604020202020204" pitchFamily="34" charset="0"/>
              <a:buChar char="•"/>
              <a:defRPr sz="1400">
                <a:solidFill>
                  <a:srgbClr val="262626"/>
                </a:solidFill>
              </a:defRPr>
            </a:pPr>
            <a:r>
              <a:rPr dirty="0"/>
              <a:t>State spelled 12 ways (Kentucky, Ky, etc...)</a:t>
            </a:r>
          </a:p>
          <a:p>
            <a:pPr marL="285750" indent="-285750" algn="l">
              <a:spcAft>
                <a:spcPts val="600"/>
              </a:spcAft>
              <a:buFont typeface="Arial" panose="020B0604020202020204" pitchFamily="34" charset="0"/>
              <a:buChar char="•"/>
              <a:defRPr sz="1400">
                <a:solidFill>
                  <a:srgbClr val="262626"/>
                </a:solidFill>
              </a:defRPr>
            </a:pPr>
            <a:r>
              <a:rPr dirty="0"/>
              <a:t>Household counts stored as text (“More than 5”)</a:t>
            </a:r>
          </a:p>
          <a:p>
            <a:pPr marL="285750" indent="-285750" algn="l">
              <a:spcAft>
                <a:spcPts val="600"/>
              </a:spcAft>
              <a:buFont typeface="Arial" panose="020B0604020202020204" pitchFamily="34" charset="0"/>
              <a:buChar char="•"/>
              <a:defRPr sz="1400">
                <a:solidFill>
                  <a:srgbClr val="262626"/>
                </a:solidFill>
              </a:defRPr>
            </a:pPr>
            <a:r>
              <a:rPr dirty="0"/>
              <a:t>Count fields agree only 56% of the time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365760"/>
            <a:ext cx="7223760" cy="1005840"/>
          </a:xfrm>
        </p:spPr>
        <p:txBody>
          <a:bodyPr/>
          <a:lstStyle/>
          <a:p>
            <a:r>
              <a:rPr sz="2800" b="1"/>
              <a:t>Data Preparation (Steps and Why)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6450511"/>
              </p:ext>
            </p:extLst>
          </p:nvPr>
        </p:nvGraphicFramePr>
        <p:xfrm>
          <a:off x="630936" y="1691640"/>
          <a:ext cx="7882128" cy="41696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731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94944"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Step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Why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4944"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Kept only 426 intake tickets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Sub-tickets have no case data and would mess with our averages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4944"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Standardize state; cut ZIP+4 to 5 digits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Simplifying it makes it so people with the same ZIP aren’t being split up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4944"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Set impossible ages/typos to missing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Keep the row: the same ticket will still hold valid housing and income data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94944"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Flagged duplicates instead of deleting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rPr dirty="0"/>
                        <a:t>Deleting would change </a:t>
                      </a:r>
                      <a:r>
                        <a:rPr lang="en-US" dirty="0"/>
                        <a:t>our figures (slightly but rather be safe)</a:t>
                      </a:r>
                      <a:endParaRPr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94944"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t>Built eviction-risk flag and household size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500"/>
                      </a:pPr>
                      <a:r>
                        <a:rPr dirty="0"/>
                        <a:t>SLCM doesn’t record these directly and instead are both documented as proxies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365760"/>
            <a:ext cx="7223760" cy="1005840"/>
          </a:xfrm>
        </p:spPr>
        <p:txBody>
          <a:bodyPr/>
          <a:lstStyle/>
          <a:p>
            <a:r>
              <a:rPr sz="2800" b="1"/>
              <a:t>Exploratory Data Analysis</a:t>
            </a:r>
          </a:p>
        </p:txBody>
      </p:sp>
      <p:pic>
        <p:nvPicPr>
          <p:cNvPr id="3" name="Picture 2" descr="q2_employment_inc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1645920"/>
            <a:ext cx="7882127" cy="251670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30936" y="4297680"/>
            <a:ext cx="7882127" cy="181588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700" b="0">
                <a:solidFill>
                  <a:srgbClr val="262626"/>
                </a:solidFill>
              </a:defRPr>
            </a:pPr>
            <a:r>
              <a:rPr dirty="0"/>
              <a:t>Employment does not predict hardship: median income $2,000 (employed) vs $0, yet eviction risk is 33% vs 25%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700">
                <a:solidFill>
                  <a:srgbClr val="262626"/>
                </a:solidFill>
              </a:defRPr>
            </a:pPr>
            <a:r>
              <a:rPr dirty="0"/>
              <a:t>28.6% of intakes show eviction risk; it varies by ZIP (11% to 53% in ZIPs with 15+ tickets)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700">
                <a:solidFill>
                  <a:srgbClr val="262626"/>
                </a:solidFill>
              </a:defRPr>
            </a:pPr>
            <a:r>
              <a:rPr dirty="0"/>
              <a:t>Typical household: 3 people with 2 young children; half of other members are under 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365760"/>
            <a:ext cx="7223760" cy="1005840"/>
          </a:xfrm>
        </p:spPr>
        <p:txBody>
          <a:bodyPr/>
          <a:lstStyle/>
          <a:p>
            <a:r>
              <a:rPr sz="2800" b="1"/>
              <a:t>Our Research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0936" y="1645920"/>
            <a:ext cx="7882127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2400" b="1">
                <a:solidFill>
                  <a:srgbClr val="752836"/>
                </a:solidFill>
              </a:defRPr>
            </a:pPr>
            <a:r>
              <a:t>Which intake characteristics are associated with eviction risk at intake?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" y="2743200"/>
            <a:ext cx="3840480" cy="3337560"/>
          </a:xfrm>
          <a:prstGeom prst="roundRect">
            <a:avLst>
              <a:gd name="adj" fmla="val 5000"/>
            </a:avLst>
          </a:prstGeom>
          <a:solidFill>
            <a:srgbClr val="F3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37160" rIns="164592" rtlCol="0" anchor="t"/>
          <a:lstStyle/>
          <a:p>
            <a:pPr algn="l">
              <a:spcAft>
                <a:spcPts val="800"/>
              </a:spcAft>
              <a:defRPr sz="1800" b="1">
                <a:solidFill>
                  <a:srgbClr val="752836"/>
                </a:solidFill>
              </a:defRPr>
            </a:pPr>
            <a:r>
              <a:rPr dirty="0"/>
              <a:t>Why it matters</a:t>
            </a:r>
          </a:p>
          <a:p>
            <a:pPr marL="285750" indent="-285750" algn="l">
              <a:spcAft>
                <a:spcPts val="600"/>
              </a:spcAft>
              <a:buFont typeface="Arial" panose="020B0604020202020204" pitchFamily="34" charset="0"/>
              <a:buChar char="•"/>
              <a:defRPr sz="1800">
                <a:solidFill>
                  <a:srgbClr val="262626"/>
                </a:solidFill>
              </a:defRPr>
            </a:pPr>
            <a:r>
              <a:rPr dirty="0"/>
              <a:t>Helps prioritize which families need immediate help</a:t>
            </a:r>
          </a:p>
          <a:p>
            <a:pPr marL="285750" indent="-285750" algn="l">
              <a:spcAft>
                <a:spcPts val="600"/>
              </a:spcAft>
              <a:buFont typeface="Arial" panose="020B0604020202020204" pitchFamily="34" charset="0"/>
              <a:buChar char="•"/>
              <a:defRPr sz="1800">
                <a:solidFill>
                  <a:srgbClr val="262626"/>
                </a:solidFill>
              </a:defRPr>
            </a:pPr>
            <a:r>
              <a:rPr dirty="0"/>
              <a:t>Tests whether employment is a useful screening signal (it seems like it’s not)</a:t>
            </a:r>
          </a:p>
          <a:p>
            <a:pPr marL="285750" indent="-285750" algn="l">
              <a:spcAft>
                <a:spcPts val="600"/>
              </a:spcAft>
              <a:buFont typeface="Arial" panose="020B0604020202020204" pitchFamily="34" charset="0"/>
              <a:buChar char="•"/>
              <a:defRPr sz="1800">
                <a:solidFill>
                  <a:srgbClr val="262626"/>
                </a:solidFill>
              </a:defRPr>
            </a:pPr>
            <a:r>
              <a:rPr dirty="0"/>
              <a:t>First step toward a fair and explainable triage tool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672584" y="2743200"/>
            <a:ext cx="3840480" cy="3337560"/>
          </a:xfrm>
          <a:prstGeom prst="roundRect">
            <a:avLst>
              <a:gd name="adj" fmla="val 5000"/>
            </a:avLst>
          </a:prstGeom>
          <a:solidFill>
            <a:srgbClr val="EF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37160" rIns="164592" rtlCol="0" anchor="t"/>
          <a:lstStyle/>
          <a:p>
            <a:pPr algn="l">
              <a:spcAft>
                <a:spcPts val="800"/>
              </a:spcAft>
              <a:defRPr sz="1800" b="1">
                <a:solidFill>
                  <a:srgbClr val="4D4D4D"/>
                </a:solidFill>
              </a:defRPr>
            </a:pPr>
            <a:r>
              <a:rPr dirty="0"/>
              <a:t>Variables that could help</a:t>
            </a:r>
          </a:p>
          <a:p>
            <a:pPr marL="285750" indent="-285750" algn="l">
              <a:spcAft>
                <a:spcPts val="600"/>
              </a:spcAft>
              <a:buFont typeface="Arial" panose="020B0604020202020204" pitchFamily="34" charset="0"/>
              <a:buChar char="•"/>
              <a:defRPr sz="1800">
                <a:solidFill>
                  <a:srgbClr val="262626"/>
                </a:solidFill>
              </a:defRPr>
            </a:pPr>
            <a:r>
              <a:rPr dirty="0"/>
              <a:t>ZIP code</a:t>
            </a:r>
          </a:p>
          <a:p>
            <a:pPr marL="285750" indent="-285750" algn="l">
              <a:spcAft>
                <a:spcPts val="600"/>
              </a:spcAft>
              <a:buFont typeface="Arial" panose="020B0604020202020204" pitchFamily="34" charset="0"/>
              <a:buChar char="•"/>
              <a:defRPr sz="1800">
                <a:solidFill>
                  <a:srgbClr val="262626"/>
                </a:solidFill>
              </a:defRPr>
            </a:pPr>
            <a:r>
              <a:rPr dirty="0"/>
              <a:t>Household size and number of children</a:t>
            </a:r>
          </a:p>
          <a:p>
            <a:pPr marL="285750" indent="-285750" algn="l">
              <a:spcAft>
                <a:spcPts val="600"/>
              </a:spcAft>
              <a:buFont typeface="Arial" panose="020B0604020202020204" pitchFamily="34" charset="0"/>
              <a:buChar char="•"/>
              <a:defRPr sz="1800">
                <a:solidFill>
                  <a:srgbClr val="262626"/>
                </a:solidFill>
              </a:defRPr>
            </a:pPr>
            <a:r>
              <a:rPr dirty="0"/>
              <a:t>Employment status, total income amount and source</a:t>
            </a:r>
          </a:p>
          <a:p>
            <a:pPr marL="285750" indent="-285750" algn="l">
              <a:spcAft>
                <a:spcPts val="600"/>
              </a:spcAft>
              <a:buFont typeface="Arial" panose="020B0604020202020204" pitchFamily="34" charset="0"/>
              <a:buChar char="•"/>
              <a:defRPr sz="1800">
                <a:solidFill>
                  <a:srgbClr val="262626"/>
                </a:solidFill>
              </a:defRPr>
            </a:pPr>
            <a:r>
              <a:rPr dirty="0"/>
              <a:t>Monthly rent, past-due rent</a:t>
            </a:r>
          </a:p>
          <a:p>
            <a:pPr marL="285750" indent="-285750" algn="l">
              <a:spcAft>
                <a:spcPts val="600"/>
              </a:spcAft>
              <a:buFont typeface="Arial" panose="020B0604020202020204" pitchFamily="34" charset="0"/>
              <a:buChar char="•"/>
              <a:defRPr sz="1800">
                <a:solidFill>
                  <a:srgbClr val="262626"/>
                </a:solidFill>
              </a:defRPr>
            </a:pPr>
            <a:r>
              <a:rPr dirty="0"/>
              <a:t>Caregiver age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365760"/>
            <a:ext cx="7223760" cy="1005840"/>
          </a:xfrm>
        </p:spPr>
        <p:txBody>
          <a:bodyPr/>
          <a:lstStyle/>
          <a:p>
            <a:r>
              <a:rPr sz="2800" b="1"/>
              <a:t>Key Findings So Far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30936" y="1691640"/>
            <a:ext cx="3840480" cy="4389120"/>
          </a:xfrm>
          <a:prstGeom prst="roundRect">
            <a:avLst>
              <a:gd name="adj" fmla="val 5000"/>
            </a:avLst>
          </a:prstGeom>
          <a:solidFill>
            <a:srgbClr val="E0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37160" rIns="164592" rtlCol="0" anchor="t"/>
          <a:lstStyle/>
          <a:p>
            <a:pPr algn="l">
              <a:spcAft>
                <a:spcPts val="800"/>
              </a:spcAft>
              <a:defRPr sz="1800" b="1">
                <a:solidFill>
                  <a:srgbClr val="00677F"/>
                </a:solidFill>
              </a:defRPr>
            </a:pPr>
            <a:r>
              <a:rPr dirty="0"/>
              <a:t>What we learned</a:t>
            </a:r>
          </a:p>
          <a:p>
            <a:pPr marL="285750" indent="-285750" algn="l">
              <a:spcAft>
                <a:spcPts val="600"/>
              </a:spcAft>
              <a:buFont typeface="Arial" panose="020B0604020202020204" pitchFamily="34" charset="0"/>
              <a:buChar char="•"/>
              <a:defRPr sz="1700">
                <a:solidFill>
                  <a:srgbClr val="262626"/>
                </a:solidFill>
              </a:defRPr>
            </a:pPr>
            <a:r>
              <a:rPr dirty="0"/>
              <a:t>The export holds 426 real intakes, not 639 families</a:t>
            </a:r>
          </a:p>
          <a:p>
            <a:pPr marL="285750" indent="-285750" algn="l">
              <a:spcAft>
                <a:spcPts val="600"/>
              </a:spcAft>
              <a:buFont typeface="Arial" panose="020B0604020202020204" pitchFamily="34" charset="0"/>
              <a:buChar char="•"/>
              <a:defRPr sz="1700">
                <a:solidFill>
                  <a:srgbClr val="262626"/>
                </a:solidFill>
              </a:defRPr>
            </a:pPr>
            <a:r>
              <a:rPr dirty="0"/>
              <a:t>28.6% show eviction risk; more than half are renters behind on rent</a:t>
            </a:r>
          </a:p>
          <a:p>
            <a:pPr marL="285750" indent="-285750" algn="l">
              <a:spcAft>
                <a:spcPts val="600"/>
              </a:spcAft>
              <a:buFont typeface="Arial" panose="020B0604020202020204" pitchFamily="34" charset="0"/>
              <a:buChar char="•"/>
              <a:defRPr sz="1700">
                <a:solidFill>
                  <a:srgbClr val="262626"/>
                </a:solidFill>
              </a:defRPr>
            </a:pPr>
            <a:r>
              <a:rPr dirty="0"/>
              <a:t>Employment does not protect against hardship: nearly a third of employed households rely mainly on SNAP/TANF</a:t>
            </a:r>
          </a:p>
          <a:p>
            <a:pPr marL="285750" indent="-285750" algn="l">
              <a:spcAft>
                <a:spcPts val="600"/>
              </a:spcAft>
              <a:buFont typeface="Arial" panose="020B0604020202020204" pitchFamily="34" charset="0"/>
              <a:buChar char="•"/>
              <a:defRPr sz="1700">
                <a:solidFill>
                  <a:srgbClr val="262626"/>
                </a:solidFill>
              </a:defRPr>
            </a:pPr>
            <a:r>
              <a:rPr dirty="0"/>
              <a:t>Only 27 people (6.8%) appear on more than one intake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672584" y="1691640"/>
            <a:ext cx="3840480" cy="1737360"/>
          </a:xfrm>
          <a:prstGeom prst="roundRect">
            <a:avLst>
              <a:gd name="adj" fmla="val 5000"/>
            </a:avLst>
          </a:prstGeom>
          <a:solidFill>
            <a:srgbClr val="F3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37160" rIns="164592" rtlCol="0" anchor="t"/>
          <a:lstStyle/>
          <a:p>
            <a:pPr algn="l">
              <a:spcAft>
                <a:spcPts val="800"/>
              </a:spcAft>
              <a:defRPr sz="1800" b="1">
                <a:solidFill>
                  <a:srgbClr val="752836"/>
                </a:solidFill>
              </a:defRPr>
            </a:pPr>
            <a:r>
              <a:rPr dirty="0"/>
              <a:t>What surprised us</a:t>
            </a:r>
          </a:p>
          <a:p>
            <a:pPr marL="285750" indent="-285750" algn="l">
              <a:spcAft>
                <a:spcPts val="600"/>
              </a:spcAft>
              <a:buFont typeface="Arial" panose="020B0604020202020204" pitchFamily="34" charset="0"/>
              <a:buChar char="•"/>
              <a:defRPr sz="1400">
                <a:solidFill>
                  <a:srgbClr val="262626"/>
                </a:solidFill>
              </a:defRPr>
            </a:pPr>
            <a:r>
              <a:rPr dirty="0"/>
              <a:t>Employed households are at least as likely to face eviction</a:t>
            </a:r>
          </a:p>
          <a:p>
            <a:pPr marL="285750" indent="-285750" algn="l">
              <a:spcAft>
                <a:spcPts val="600"/>
              </a:spcAft>
              <a:buFont typeface="Arial" panose="020B0604020202020204" pitchFamily="34" charset="0"/>
              <a:buChar char="•"/>
              <a:defRPr sz="1400">
                <a:solidFill>
                  <a:srgbClr val="262626"/>
                </a:solidFill>
              </a:defRPr>
            </a:pPr>
            <a:r>
              <a:rPr dirty="0"/>
              <a:t>Repeat intake</a:t>
            </a:r>
            <a:r>
              <a:rPr lang="en-US" dirty="0"/>
              <a:t> isn’t as common as we thought</a:t>
            </a:r>
            <a:endParaRPr dirty="0"/>
          </a:p>
        </p:txBody>
      </p:sp>
      <p:sp>
        <p:nvSpPr>
          <p:cNvPr id="5" name="Rounded Rectangle 4"/>
          <p:cNvSpPr/>
          <p:nvPr/>
        </p:nvSpPr>
        <p:spPr>
          <a:xfrm>
            <a:off x="4672584" y="3566160"/>
            <a:ext cx="3840480" cy="2514600"/>
          </a:xfrm>
          <a:prstGeom prst="roundRect">
            <a:avLst>
              <a:gd name="adj" fmla="val 5000"/>
            </a:avLst>
          </a:prstGeom>
          <a:solidFill>
            <a:srgbClr val="EF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37160" rIns="164592" rtlCol="0" anchor="t"/>
          <a:lstStyle/>
          <a:p>
            <a:pPr algn="l">
              <a:spcAft>
                <a:spcPts val="800"/>
              </a:spcAft>
              <a:defRPr sz="1800" b="1">
                <a:solidFill>
                  <a:srgbClr val="4D4D4D"/>
                </a:solidFill>
              </a:defRPr>
            </a:pPr>
            <a:r>
              <a:rPr dirty="0"/>
              <a:t>What the data cannot tell us</a:t>
            </a:r>
          </a:p>
          <a:p>
            <a:pPr marL="285750" indent="-285750" algn="l">
              <a:spcAft>
                <a:spcPts val="600"/>
              </a:spcAft>
              <a:buFont typeface="Arial" panose="020B0604020202020204" pitchFamily="34" charset="0"/>
              <a:buChar char="•"/>
              <a:defRPr sz="1400">
                <a:solidFill>
                  <a:srgbClr val="262626"/>
                </a:solidFill>
              </a:defRPr>
            </a:pPr>
            <a:r>
              <a:rPr dirty="0"/>
              <a:t>Eviction risk is our proxy, not a recorded field</a:t>
            </a:r>
          </a:p>
          <a:p>
            <a:pPr marL="285750" indent="-285750" algn="l">
              <a:spcAft>
                <a:spcPts val="600"/>
              </a:spcAft>
              <a:buFont typeface="Arial" panose="020B0604020202020204" pitchFamily="34" charset="0"/>
              <a:buChar char="•"/>
              <a:defRPr sz="1400">
                <a:solidFill>
                  <a:srgbClr val="262626"/>
                </a:solidFill>
              </a:defRPr>
            </a:pPr>
            <a:r>
              <a:rPr dirty="0"/>
              <a:t>63 intakes have Unknown eviction status, so 28.6% is likely a floor</a:t>
            </a:r>
          </a:p>
          <a:p>
            <a:pPr marL="285750" indent="-285750" algn="l">
              <a:spcAft>
                <a:spcPts val="600"/>
              </a:spcAft>
              <a:buFont typeface="Arial" panose="020B0604020202020204" pitchFamily="34" charset="0"/>
              <a:buChar char="•"/>
              <a:defRPr sz="1400">
                <a:solidFill>
                  <a:srgbClr val="262626"/>
                </a:solidFill>
              </a:defRPr>
            </a:pPr>
            <a:r>
              <a:rPr dirty="0"/>
              <a:t>The highest-risk ZIPs have only 15 to 17 tickets each</a:t>
            </a:r>
          </a:p>
          <a:p>
            <a:pPr marL="285750" indent="-285750" algn="l">
              <a:spcAft>
                <a:spcPts val="600"/>
              </a:spcAft>
              <a:buFont typeface="Arial" panose="020B0604020202020204" pitchFamily="34" charset="0"/>
              <a:buChar char="•"/>
              <a:defRPr sz="1400">
                <a:solidFill>
                  <a:srgbClr val="262626"/>
                </a:solidFill>
              </a:defRPr>
            </a:pPr>
            <a:r>
              <a:rPr dirty="0"/>
              <a:t>The data show intake, not outcomes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365760"/>
            <a:ext cx="7223760" cy="1005840"/>
          </a:xfrm>
        </p:spPr>
        <p:txBody>
          <a:bodyPr/>
          <a:lstStyle/>
          <a:p>
            <a:r>
              <a:rPr sz="2800" b="1" dirty="0"/>
              <a:t>Next Steps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30936" y="1691640"/>
            <a:ext cx="2487168" cy="4389120"/>
          </a:xfrm>
          <a:prstGeom prst="roundRect">
            <a:avLst>
              <a:gd name="adj" fmla="val 5000"/>
            </a:avLst>
          </a:prstGeom>
          <a:solidFill>
            <a:srgbClr val="E0EE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37160" rIns="164592" rtlCol="0" anchor="t"/>
          <a:lstStyle/>
          <a:p>
            <a:pPr algn="l">
              <a:spcAft>
                <a:spcPts val="800"/>
              </a:spcAft>
              <a:defRPr sz="1800" b="1">
                <a:solidFill>
                  <a:srgbClr val="00677F"/>
                </a:solidFill>
              </a:defRPr>
            </a:pPr>
            <a:r>
              <a:rPr dirty="0"/>
              <a:t>Investigate next</a:t>
            </a:r>
          </a:p>
          <a:p>
            <a:pPr marL="285750" indent="-285750" algn="l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262626"/>
                </a:solidFill>
              </a:defRPr>
            </a:pPr>
            <a:r>
              <a:rPr dirty="0"/>
              <a:t>Which factors best separate at-risk from stable families</a:t>
            </a:r>
          </a:p>
          <a:p>
            <a:pPr marL="285750" indent="-285750" algn="l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262626"/>
                </a:solidFill>
              </a:defRPr>
            </a:pPr>
            <a:r>
              <a:rPr dirty="0"/>
              <a:t>ZIP-level patterns with more data</a:t>
            </a:r>
          </a:p>
          <a:p>
            <a:pPr marL="285750" indent="-285750" algn="l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262626"/>
                </a:solidFill>
              </a:defRPr>
            </a:pPr>
            <a:r>
              <a:rPr dirty="0"/>
              <a:t>What happens between first and later intakes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28416" y="1691640"/>
            <a:ext cx="2487168" cy="4389120"/>
          </a:xfrm>
          <a:prstGeom prst="roundRect">
            <a:avLst>
              <a:gd name="adj" fmla="val 5000"/>
            </a:avLst>
          </a:prstGeom>
          <a:solidFill>
            <a:srgbClr val="F3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37160" rIns="164592" rtlCol="0" anchor="t"/>
          <a:lstStyle/>
          <a:p>
            <a:pPr algn="l">
              <a:spcAft>
                <a:spcPts val="800"/>
              </a:spcAft>
              <a:defRPr sz="1800" b="1">
                <a:solidFill>
                  <a:srgbClr val="752836"/>
                </a:solidFill>
              </a:defRPr>
            </a:pPr>
            <a:r>
              <a:rPr dirty="0"/>
              <a:t>Possible approaches</a:t>
            </a:r>
          </a:p>
          <a:p>
            <a:pPr marL="285750" indent="-285750" algn="l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262626"/>
                </a:solidFill>
              </a:defRPr>
            </a:pPr>
            <a:r>
              <a:rPr dirty="0"/>
              <a:t>Logistic regression for eviction risk (interpretable first)</a:t>
            </a:r>
          </a:p>
          <a:p>
            <a:pPr marL="285750" indent="-285750" algn="l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262626"/>
                </a:solidFill>
              </a:defRPr>
            </a:pPr>
            <a:r>
              <a:rPr dirty="0"/>
              <a:t>Clustering of household profiles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25896" y="1691640"/>
            <a:ext cx="2487168" cy="4389120"/>
          </a:xfrm>
          <a:prstGeom prst="roundRect">
            <a:avLst>
              <a:gd name="adj" fmla="val 5000"/>
            </a:avLst>
          </a:prstGeom>
          <a:solidFill>
            <a:srgbClr val="EF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37160" rIns="164592" rtlCol="0" anchor="t"/>
          <a:lstStyle/>
          <a:p>
            <a:pPr algn="l">
              <a:spcAft>
                <a:spcPts val="800"/>
              </a:spcAft>
              <a:defRPr sz="1800" b="1">
                <a:solidFill>
                  <a:srgbClr val="4D4D4D"/>
                </a:solidFill>
              </a:defRPr>
            </a:pPr>
            <a:r>
              <a:rPr dirty="0"/>
              <a:t>Limits and needs</a:t>
            </a:r>
          </a:p>
          <a:p>
            <a:pPr marL="285750" indent="-285750" algn="l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262626"/>
                </a:solidFill>
              </a:defRPr>
            </a:pPr>
            <a:r>
              <a:rPr dirty="0"/>
              <a:t>Utility data </a:t>
            </a:r>
          </a:p>
          <a:p>
            <a:pPr marL="285750" indent="-285750" algn="l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262626"/>
                </a:solidFill>
              </a:defRPr>
            </a:pPr>
            <a:r>
              <a:rPr dirty="0"/>
              <a:t>Case outcome fields</a:t>
            </a:r>
          </a:p>
          <a:p>
            <a:pPr marL="285750" indent="-285750" algn="l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262626"/>
                </a:solidFill>
              </a:defRPr>
            </a:pPr>
            <a:r>
              <a:rPr dirty="0"/>
              <a:t>A reliable person ID</a:t>
            </a:r>
          </a:p>
          <a:p>
            <a:pPr marL="285750" indent="-285750" algn="l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262626"/>
                </a:solidFill>
              </a:defRPr>
            </a:pPr>
            <a:r>
              <a:rPr dirty="0"/>
              <a:t>Follow-up housing status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Bellarmine Palett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752836"/>
      </a:accent1>
      <a:accent2>
        <a:srgbClr val="697970"/>
      </a:accent2>
      <a:accent3>
        <a:srgbClr val="C8C8C8"/>
      </a:accent3>
      <a:accent4>
        <a:srgbClr val="F7BE00"/>
      </a:accent4>
      <a:accent5>
        <a:srgbClr val="00677F"/>
      </a:accent5>
      <a:accent6>
        <a:srgbClr val="4D4D4D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tandard Screen Bellarmine Template" id="{109F2BBD-B805-0C47-8BE1-EE5FD54F39DA}" vid="{7B5311A2-F663-764E-9F9C-04F6C47E4FF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866</TotalTime>
  <Words>795</Words>
  <Application>Microsoft Macintosh PowerPoint</Application>
  <PresentationFormat>On-screen Show (4:3)</PresentationFormat>
  <Paragraphs>111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2" baseType="lpstr">
      <vt:lpstr>Arial</vt:lpstr>
      <vt:lpstr>Office Theme</vt:lpstr>
      <vt:lpstr>Group project presentation</vt:lpstr>
      <vt:lpstr>Community Partner and Problem</vt:lpstr>
      <vt:lpstr>Dataset Overview</vt:lpstr>
      <vt:lpstr>Column Triage: 93 Columns Sorted</vt:lpstr>
      <vt:lpstr>Data Quality Problems</vt:lpstr>
      <vt:lpstr>Data Preparation (Steps and Why)</vt:lpstr>
      <vt:lpstr>Exploratory Data Analysis</vt:lpstr>
      <vt:lpstr>Our Research Question</vt:lpstr>
      <vt:lpstr>Key Findings So Far</vt:lpstr>
      <vt:lpstr>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Katie Kelty</dc:creator>
  <cp:lastModifiedBy>Nikolas R. Madden</cp:lastModifiedBy>
  <cp:revision>4</cp:revision>
  <dcterms:created xsi:type="dcterms:W3CDTF">2020-08-18T15:08:12Z</dcterms:created>
  <dcterms:modified xsi:type="dcterms:W3CDTF">2026-10-01T13:09:51Z</dcterms:modified>
</cp:coreProperties>
</file>